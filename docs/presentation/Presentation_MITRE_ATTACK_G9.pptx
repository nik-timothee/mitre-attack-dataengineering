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73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4995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61520" cy="18288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6576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</a:rPr>
              <a:t>UNIVERSITÉ CATHOLIQUE DE L'AFRIQUE DE L'OUEST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MITRE ATT&amp;CK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32004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A017"/>
                </a:solidFill>
              </a:rPr>
              <a:t>Data Engineering &amp; Interactive Dashboard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3749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FF6FF"/>
                </a:solidFill>
              </a:rPr>
              <a:t>Projet Data Engineering appliqué à la cybersécurité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516636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Groupe 9  •  YORIKOUME </a:t>
            </a:r>
            <a:r>
              <a:rPr lang="en-US" sz="1600" b="1" dirty="0" err="1">
                <a:solidFill>
                  <a:srgbClr val="FFFFFF"/>
                </a:solidFill>
              </a:rPr>
              <a:t>Nikabou</a:t>
            </a:r>
            <a:r>
              <a:rPr lang="en-US" sz="1600" b="1" dirty="0">
                <a:solidFill>
                  <a:srgbClr val="FFFFFF"/>
                </a:solidFill>
              </a:rPr>
              <a:t>  •  BABA Abdoul Halim  •  BADO Thierry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555955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F6FF"/>
                </a:solidFill>
              </a:rPr>
              <a:t>Cycle Ingénieur Cybersécurité — Master 1 Sécurité Informatique  |  UCAO 2025–2026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589788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F6FF"/>
                </a:solidFill>
              </a:rPr>
              <a:t>Référentiel : MITRE ATT&amp;CK Enterprise  |  Format : STIX 2.0  |  github.com/nik-timothee/MITRE-ATTACK-DataEngineering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A2F5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0972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Contexte et problématique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1097280"/>
            <a:ext cx="55778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1430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5A"/>
                </a:solidFill>
              </a:rPr>
              <a:t>🛡 MITRE ATT&amp;CK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5760" y="1572768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Référentiel mondial des TTP adverses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14 tactiques, 858 techniques, 170 groupes APT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Données distribuées en JSON STIX 2.0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Utilisé par les équipes SOC et threat intelligence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09360" y="1097280"/>
            <a:ext cx="55778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11430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</a:rPr>
              <a:t>⚡ Le défi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0" y="1572768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Données brutes JSON STIX 2.0 non exploitables directement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Structure imbriquée et complexe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Besoin de transformation, modélisation et visualisation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Pipeline reproductible nécessaire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74320" y="3840480"/>
            <a:ext cx="11612880" cy="1280160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91363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❓ Problématique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4224528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F5A"/>
                </a:solidFill>
              </a:rPr>
              <a:t>Comment transformer les données brutes du framework MITRE ATT&amp;CK en un modèle de données structuré permettant d'analyser les groupes APT, les tactiques, les techniques et les plateformes ciblées, puis de visualiser ces informations dans un dashboard interactif ?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74320" y="658368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MITRE ATT&amp;CK Data Engineering — Groupe 9 | UCAO 2025–2026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704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A2F5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0972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Objectifs du projet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1143000"/>
            <a:ext cx="5760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143000"/>
            <a:ext cx="502920" cy="10972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114300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41248" y="1252728"/>
            <a:ext cx="5102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5A"/>
                </a:solidFill>
              </a:rPr>
              <a:t>Ingérer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1248" y="1600200"/>
            <a:ext cx="5102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Télécharger les données Enterprise ATT&amp;CK depuis MITRE CTI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4320" y="2404872"/>
            <a:ext cx="5760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2404872"/>
            <a:ext cx="502920" cy="10972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13" name="Text 10"/>
          <p:cNvSpPr/>
          <p:nvPr/>
        </p:nvSpPr>
        <p:spPr>
          <a:xfrm>
            <a:off x="274320" y="2404872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41248" y="2514600"/>
            <a:ext cx="5102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5A"/>
                </a:solidFill>
              </a:rPr>
              <a:t>Explorer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41248" y="2862072"/>
            <a:ext cx="5102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Comprendre la structure du bundle STIX 2.0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74320" y="3666744"/>
            <a:ext cx="5760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3666744"/>
            <a:ext cx="502920" cy="10972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18" name="Text 15"/>
          <p:cNvSpPr/>
          <p:nvPr/>
        </p:nvSpPr>
        <p:spPr>
          <a:xfrm>
            <a:off x="274320" y="3666744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41248" y="3776472"/>
            <a:ext cx="5102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5A"/>
                </a:solidFill>
              </a:rPr>
              <a:t>Parser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41248" y="4123944"/>
            <a:ext cx="5102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Extraire tactiques, techniques, groupes, malwares et relations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74320" y="4928616"/>
            <a:ext cx="5760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74320" y="4928616"/>
            <a:ext cx="502920" cy="10972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23" name="Text 20"/>
          <p:cNvSpPr/>
          <p:nvPr/>
        </p:nvSpPr>
        <p:spPr>
          <a:xfrm>
            <a:off x="274320" y="4928616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841248" y="5038344"/>
            <a:ext cx="5102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5A"/>
                </a:solidFill>
              </a:rPr>
              <a:t>Modéliser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41248" y="5385816"/>
            <a:ext cx="5102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Construire un schéma en étoile (Star Schema)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355080" y="1143000"/>
            <a:ext cx="5760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55080" y="1143000"/>
            <a:ext cx="502920" cy="10972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28" name="Text 25"/>
          <p:cNvSpPr/>
          <p:nvPr/>
        </p:nvSpPr>
        <p:spPr>
          <a:xfrm>
            <a:off x="6355080" y="114300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6922008" y="1252728"/>
            <a:ext cx="5102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5A"/>
                </a:solidFill>
              </a:rPr>
              <a:t>Stocker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922008" y="1600200"/>
            <a:ext cx="5102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Exporter en Parquet et uploader sur AWS S3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355080" y="2404872"/>
            <a:ext cx="5760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55080" y="2404872"/>
            <a:ext cx="502920" cy="10972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33" name="Text 30"/>
          <p:cNvSpPr/>
          <p:nvPr/>
        </p:nvSpPr>
        <p:spPr>
          <a:xfrm>
            <a:off x="6355080" y="2404872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6922008" y="2514600"/>
            <a:ext cx="5102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5A"/>
                </a:solidFill>
              </a:rPr>
              <a:t>Analyser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922008" y="2862072"/>
            <a:ext cx="5102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Produire des indicateurs sur APT, tactiques, plateformes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355080" y="3666744"/>
            <a:ext cx="5760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355080" y="3666744"/>
            <a:ext cx="502920" cy="10972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38" name="Text 35"/>
          <p:cNvSpPr/>
          <p:nvPr/>
        </p:nvSpPr>
        <p:spPr>
          <a:xfrm>
            <a:off x="6355080" y="3666744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7</a:t>
            </a:r>
            <a:endParaRPr lang="en-US" sz="2000" dirty="0"/>
          </a:p>
        </p:txBody>
      </p:sp>
      <p:sp>
        <p:nvSpPr>
          <p:cNvPr id="39" name="Text 36"/>
          <p:cNvSpPr/>
          <p:nvPr/>
        </p:nvSpPr>
        <p:spPr>
          <a:xfrm>
            <a:off x="6922008" y="3776472"/>
            <a:ext cx="5102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5A"/>
                </a:solidFill>
              </a:rPr>
              <a:t>Visualiser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6922008" y="4123944"/>
            <a:ext cx="5102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Dashboard Power BI interactif avec matrice ATT&amp;CK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274320" y="658368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MITRE ATT&amp;CK Data Engineering — Groupe 9 | UCAO 2025–2026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1704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A2F5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0972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Stack technique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1188720"/>
            <a:ext cx="2651760" cy="210312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1645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74320" y="23774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Traitement et transformation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51760" cy="210312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172968" y="1645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jsonlite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3172968" y="23774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Lecture du JSON STIX 2.0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71616" y="1188720"/>
            <a:ext cx="2651760" cy="210312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71616" y="1645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dplyr / tidyr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071616" y="23774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Manipulation des données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970264" y="1188720"/>
            <a:ext cx="2651760" cy="2103120"/>
          </a:xfrm>
          <a:prstGeom prst="rect">
            <a:avLst/>
          </a:prstGeom>
          <a:solidFill>
            <a:srgbClr val="D4A017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970264" y="1645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arrow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970264" y="23774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Export Parquet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74320" y="3566160"/>
            <a:ext cx="2651760" cy="2103120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274320" y="4023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aws.s3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274320" y="47548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Upload AWS S3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172968" y="3566160"/>
            <a:ext cx="2651760" cy="2103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172968" y="4023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AWS S3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3172968" y="47548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Stockage cloud eu-north-1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071616" y="3566160"/>
            <a:ext cx="2651760" cy="2103120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071616" y="4023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Power BI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6071616" y="47548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Dashboard interactif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970264" y="3566160"/>
            <a:ext cx="2651760" cy="2103120"/>
          </a:xfrm>
          <a:prstGeom prst="rect">
            <a:avLst/>
          </a:prstGeom>
          <a:solidFill>
            <a:srgbClr val="374151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970264" y="4023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Git / GitHub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8970264" y="47548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Versionnement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74320" y="658368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MITRE ATT&amp;CK Data Engineering — Groupe 9 | UCAO 2025–2026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704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A2F5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0972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Architecture globale du pipeline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82880" y="2011680"/>
            <a:ext cx="1508760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210312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MITRE ATT&amp;CK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github.com/mitre/cti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91640" y="2560320"/>
            <a:ext cx="182880" cy="27432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9" name="Shape 6"/>
          <p:cNvSpPr/>
          <p:nvPr/>
        </p:nvSpPr>
        <p:spPr>
          <a:xfrm>
            <a:off x="1874520" y="2011680"/>
            <a:ext cx="1508760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74520" y="210312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JSON STIX 2.0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enterprise-attack.json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83280" y="2560320"/>
            <a:ext cx="182880" cy="27432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12" name="Text 9"/>
          <p:cNvSpPr/>
          <p:nvPr/>
        </p:nvSpPr>
        <p:spPr>
          <a:xfrm>
            <a:off x="1783080" y="34290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01_download_data.R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566160" y="2011680"/>
            <a:ext cx="1508760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66160" y="210312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Parsing &amp; Normalisation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data/processed/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74920" y="2560320"/>
            <a:ext cx="182880" cy="27432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16" name="Text 13"/>
          <p:cNvSpPr/>
          <p:nvPr/>
        </p:nvSpPr>
        <p:spPr>
          <a:xfrm>
            <a:off x="3474720" y="34290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02 &amp; 03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257800" y="2011680"/>
            <a:ext cx="1508760" cy="1371600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57800" y="210312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Schéma en étoile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data/warehouse/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766560" y="2560320"/>
            <a:ext cx="182880" cy="27432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20" name="Text 17"/>
          <p:cNvSpPr/>
          <p:nvPr/>
        </p:nvSpPr>
        <p:spPr>
          <a:xfrm>
            <a:off x="5166360" y="34290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04_star_schema.R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949440" y="2011680"/>
            <a:ext cx="1508760" cy="1371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49440" y="210312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Parquet + AWS S3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eu-north-1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458200" y="2560320"/>
            <a:ext cx="182880" cy="27432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0" y="34290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05 &amp; 06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641080" y="2011680"/>
            <a:ext cx="1508760" cy="1371600"/>
          </a:xfrm>
          <a:prstGeom prst="rect">
            <a:avLst/>
          </a:prstGeom>
          <a:solidFill>
            <a:srgbClr val="D4A0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41080" y="210312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data/analytics/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0149840" y="2560320"/>
            <a:ext cx="182880" cy="27432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28" name="Text 25"/>
          <p:cNvSpPr/>
          <p:nvPr/>
        </p:nvSpPr>
        <p:spPr>
          <a:xfrm>
            <a:off x="8549640" y="34290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07_transformations.R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10332720" y="2011680"/>
            <a:ext cx="1508760" cy="1371600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332720" y="210312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Power BI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Dashboard interactif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182880" y="3840480"/>
            <a:ext cx="11795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65760" y="3931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</a:rPr>
              <a:t>📁 Organisation du dépôt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365760" y="431596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data/raw/  →  data/processed/  →  data/warehouse/  →  data/parquet/  →  data/analytics/  →  powerbi/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365760" y="48463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 : 01_download  →  02_explore  →  03_parse_stix  →  04_star_schema  →  05_parquet  →  06_s3  →  07_transformations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274320" y="658368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MITRE ATT&amp;CK Data Engineering — Groupe 9 | UCAO 2025–2026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704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A2F5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0972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Parsing des données STIX 2.0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1097280"/>
            <a:ext cx="502920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18872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mitre &lt;- fromJSON(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"data/raw/enterprise-attack.json",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simplifyVector = FALSE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objects &lt;- mitre$objects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Filtrage par type STIX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tactics &lt;- Filter(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function(x) x$type == "x-mitre-tactic",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objects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577840" y="1097280"/>
            <a:ext cx="6309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77840" y="1097280"/>
            <a:ext cx="164592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5833872" y="11430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x-mitre-tactic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33872" y="14447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tactics.csv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86800" y="1207008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14 tactiques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577840" y="1847088"/>
            <a:ext cx="6309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77840" y="1847088"/>
            <a:ext cx="164592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2"/>
          <p:cNvSpPr/>
          <p:nvPr/>
        </p:nvSpPr>
        <p:spPr>
          <a:xfrm>
            <a:off x="5833872" y="18928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attack-pattern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33872" y="21945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techniques.csv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686800" y="1956816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</a:rPr>
              <a:t>858 techniques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577840" y="2596896"/>
            <a:ext cx="6309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77840" y="2596896"/>
            <a:ext cx="164592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7"/>
          <p:cNvSpPr/>
          <p:nvPr/>
        </p:nvSpPr>
        <p:spPr>
          <a:xfrm>
            <a:off x="5833872" y="264261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intrusion-set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833872" y="29443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groups.csv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686800" y="2706624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</a:rPr>
              <a:t>170 groupes APT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577840" y="3346704"/>
            <a:ext cx="6309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77840" y="3346704"/>
            <a:ext cx="164592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2"/>
          <p:cNvSpPr/>
          <p:nvPr/>
        </p:nvSpPr>
        <p:spPr>
          <a:xfrm>
            <a:off x="5833872" y="339242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malware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833872" y="36941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malware.csv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686800" y="345643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</a:rPr>
              <a:t>~400 malwares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577840" y="4096512"/>
            <a:ext cx="6309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577840" y="4096512"/>
            <a:ext cx="164592" cy="65836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0" name="Text 27"/>
          <p:cNvSpPr/>
          <p:nvPr/>
        </p:nvSpPr>
        <p:spPr>
          <a:xfrm>
            <a:off x="5833872" y="41422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relationship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833872" y="44439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relationships.csv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686800" y="420624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</a:rPr>
              <a:t>14 000+ relations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277727" y="4840941"/>
            <a:ext cx="11612880" cy="173736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7200" y="4882896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</a:rPr>
              <a:t>⚙️ Points techniques clés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472440" y="5010912"/>
            <a:ext cx="11247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simplifyVector = FALSE : préserve la structure imbriquée des objets STIX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isTRUE() : gestion des champs booléens NULL (revoked, deprecated)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ifelse(is.null(...), NA, ...) : sécurise l'extraction des champs optionnels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Champ created extrait pour identifier les techniques émergentes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274320" y="658368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MITRE ATT&amp;CK Data Engineering — Groupe 9 | UCAO 2025–2026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704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A2F5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0972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Modélisation — Schéma en étoile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206240" y="2743200"/>
            <a:ext cx="3657600" cy="1463040"/>
          </a:xfrm>
          <a:prstGeom prst="rect">
            <a:avLst/>
          </a:prstGeom>
          <a:solidFill>
            <a:srgbClr val="1A2F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06240" y="27432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017"/>
                </a:solidFill>
              </a:rPr>
              <a:t>FACT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D4A017"/>
                </a:solidFill>
              </a:rPr>
              <a:t>TECHNIQUE_UTILISEE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D4A017"/>
                </a:solidFill>
              </a:rPr>
              <a:t>PAR_GROUPE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09160" y="1051560"/>
            <a:ext cx="2743200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09160" y="105156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DIM_TACTICS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14 tactiques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id, name, short_name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743200"/>
            <a:ext cx="274320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DIM_GROUPS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170 groupes APT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id, name, aliases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503920" y="2743200"/>
            <a:ext cx="2743200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DIM_TECHNIQUES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858 techniques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id, attack_id, name, platforms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09160" y="4846320"/>
            <a:ext cx="2743200" cy="1280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9160" y="48463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DIM_PLATFORMS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12 plateformes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platform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35040" y="2331720"/>
            <a:ext cx="0" cy="411480"/>
          </a:xfrm>
          <a:prstGeom prst="line">
            <a:avLst/>
          </a:prstGeom>
          <a:noFill/>
          <a:ln w="25400">
            <a:solidFill>
              <a:srgbClr val="1A2F5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00400" y="3474720"/>
            <a:ext cx="1005840" cy="0"/>
          </a:xfrm>
          <a:prstGeom prst="line">
            <a:avLst/>
          </a:prstGeom>
          <a:noFill/>
          <a:ln w="25400">
            <a:solidFill>
              <a:srgbClr val="1A2F5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863840" y="3474720"/>
            <a:ext cx="640080" cy="0"/>
          </a:xfrm>
          <a:prstGeom prst="line">
            <a:avLst/>
          </a:prstGeom>
          <a:noFill/>
          <a:ln w="25400">
            <a:solidFill>
              <a:srgbClr val="1A2F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35040" y="4206240"/>
            <a:ext cx="0" cy="640080"/>
          </a:xfrm>
          <a:prstGeom prst="line">
            <a:avLst/>
          </a:prstGeom>
          <a:noFill/>
          <a:ln w="25400">
            <a:solidFill>
              <a:srgbClr val="1A2F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4320" y="484632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49194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</a:rPr>
              <a:t>Bridge table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65760" y="526694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bridge_technique_platform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→ Relation many-to-many technique ↔ plateforme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74320" y="658368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MITRE ATT&amp;CK Data Engineering — Groupe 9 | UCAO 2025–2026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704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A2F5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0972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Résultats clés du snapshot analysé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1143000"/>
            <a:ext cx="2651760" cy="2286000"/>
          </a:xfrm>
          <a:prstGeom prst="rect">
            <a:avLst/>
          </a:prstGeom>
          <a:solidFill>
            <a:srgbClr val="1A2F5A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1216152"/>
            <a:ext cx="2651760" cy="1257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858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274320" y="24003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Techniques totales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172968" y="1143000"/>
            <a:ext cx="2651760" cy="2286000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172968" y="1216152"/>
            <a:ext cx="2651760" cy="1257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697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3172968" y="24003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Techniques actives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71616" y="1143000"/>
            <a:ext cx="2651760" cy="2286000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71616" y="1216152"/>
            <a:ext cx="2651760" cy="1257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149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6071616" y="24003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Révoquées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970264" y="1143000"/>
            <a:ext cx="2651760" cy="2286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970264" y="1216152"/>
            <a:ext cx="2651760" cy="1257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15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8970264" y="24003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Tactiques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74320" y="3703320"/>
            <a:ext cx="2651760" cy="228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274320" y="3776472"/>
            <a:ext cx="2651760" cy="1257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170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274320" y="49606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Groupes APT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172968" y="3703320"/>
            <a:ext cx="2651760" cy="2286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172968" y="3776472"/>
            <a:ext cx="2651760" cy="1257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12</a:t>
            </a:r>
            <a:endParaRPr lang="en-US" sz="3800" dirty="0"/>
          </a:p>
        </p:txBody>
      </p:sp>
      <p:sp>
        <p:nvSpPr>
          <p:cNvPr id="23" name="Text 20"/>
          <p:cNvSpPr/>
          <p:nvPr/>
        </p:nvSpPr>
        <p:spPr>
          <a:xfrm>
            <a:off x="3172968" y="49606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Plateformes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071616" y="3703320"/>
            <a:ext cx="2651760" cy="228600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071616" y="3776472"/>
            <a:ext cx="2651760" cy="1257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1 090</a:t>
            </a:r>
            <a:endParaRPr lang="en-US" sz="3800" dirty="0"/>
          </a:p>
        </p:txBody>
      </p:sp>
      <p:sp>
        <p:nvSpPr>
          <p:cNvPr id="26" name="Text 23"/>
          <p:cNvSpPr/>
          <p:nvPr/>
        </p:nvSpPr>
        <p:spPr>
          <a:xfrm>
            <a:off x="6071616" y="49606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Relations Tech↔Tactic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970264" y="3703320"/>
            <a:ext cx="2651760" cy="2286000"/>
          </a:xfrm>
          <a:prstGeom prst="rect">
            <a:avLst/>
          </a:prstGeom>
          <a:solidFill>
            <a:srgbClr val="D4A017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970264" y="3776472"/>
            <a:ext cx="2651760" cy="1257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492</a:t>
            </a:r>
            <a:endParaRPr lang="en-US" sz="3800" dirty="0"/>
          </a:p>
        </p:txBody>
      </p:sp>
      <p:sp>
        <p:nvSpPr>
          <p:cNvPr id="29" name="Text 26"/>
          <p:cNvSpPr/>
          <p:nvPr/>
        </p:nvSpPr>
        <p:spPr>
          <a:xfrm>
            <a:off x="8970264" y="49606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Tech. utilisées par APT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274320" y="658368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MITRE ATT&amp;CK Data Engineering — Groupe 9 | UCAO 2025–2026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704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A2F5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0972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Analyses réalisées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11430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143000"/>
            <a:ext cx="365760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188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Top Groupes APT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173736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Classement des 170 groupes par nombre de techniques associées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33672" y="11430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33672" y="1143000"/>
            <a:ext cx="36576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>
          <a:xfrm>
            <a:off x="4325112" y="1188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🔧 Top Techniques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325112" y="173736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492 techniques couvertes par au moins un groupe APT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193024" y="11430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93024" y="1143000"/>
            <a:ext cx="365760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3"/>
          <p:cNvSpPr/>
          <p:nvPr/>
        </p:nvSpPr>
        <p:spPr>
          <a:xfrm>
            <a:off x="8284464" y="1188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🎯 Analyse Tactiques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84464" y="173736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Fréquence des 15 tactiques dans les relations groupes/techniques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74320" y="370332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4320" y="3703320"/>
            <a:ext cx="365760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365760" y="3749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💻 Analyse Plateformes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65760" y="429768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Répartition des 858 techniques sur 12 plateformes ciblées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233672" y="370332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233672" y="3703320"/>
            <a:ext cx="365760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1"/>
          <p:cNvSpPr/>
          <p:nvPr/>
        </p:nvSpPr>
        <p:spPr>
          <a:xfrm>
            <a:off x="4325112" y="3749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🆕 Techniques Émergentes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325112" y="429768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50 techniques les plus récemment ajoutées au framework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193024" y="370332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193024" y="3703320"/>
            <a:ext cx="365760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8284464" y="3749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🕵️ Analyse APT ciblée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284464" y="429768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APT28, Lazarus Group, APT41 — 189 techniques couvertes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74320" y="658368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MITRE ATT&amp;CK Data Engineering — Groupe 9 | UCAO 2025–2026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704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A2F5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0972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Dashboard Power BI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1097280"/>
            <a:ext cx="265176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10972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858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Techniques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172968" y="1097280"/>
            <a:ext cx="2651760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6"/>
          <p:cNvSpPr/>
          <p:nvPr/>
        </p:nvSpPr>
        <p:spPr>
          <a:xfrm>
            <a:off x="3172968" y="10972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15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Tactiques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071616" y="1097280"/>
            <a:ext cx="2651760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8"/>
          <p:cNvSpPr/>
          <p:nvPr/>
        </p:nvSpPr>
        <p:spPr>
          <a:xfrm>
            <a:off x="6071616" y="10972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170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Groupes APT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970264" y="1097280"/>
            <a:ext cx="2651760" cy="1005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0"/>
          <p:cNvSpPr/>
          <p:nvPr/>
        </p:nvSpPr>
        <p:spPr>
          <a:xfrm>
            <a:off x="8970264" y="10972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12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Plateformes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274320" y="2331720"/>
            <a:ext cx="5760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233172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32688" y="240487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</a:rPr>
              <a:t>Top 10 Techniques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32688" y="2788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Techniques les plus utilisées par les groupes APT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355080" y="2331720"/>
            <a:ext cx="5760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55080" y="233172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013448" y="240487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</a:rPr>
              <a:t>Top 10 Groupes APT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013448" y="2788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Groupes classés par nombre de techniques associées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74320" y="3447288"/>
            <a:ext cx="5760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3447288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932688" y="35204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</a:rPr>
              <a:t>Tactiques fréquentes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32688" y="39044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Fréquence d'utilisation des 15 tactiques ATT&amp;CK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55080" y="3447288"/>
            <a:ext cx="5760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55080" y="3447288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7013448" y="35204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</a:rPr>
              <a:t>Répartition Plateformes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013448" y="39044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Distribution par plateforme cible (anneau)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74320" y="4562856"/>
            <a:ext cx="5760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4320" y="4562856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932688" y="463600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</a:rPr>
              <a:t>Matrice ATT&amp;CK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932688" y="50200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Matrice interactive Tactiques × Techniques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355080" y="4562856"/>
            <a:ext cx="5760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355080" y="4562856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🆕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7013448" y="463600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</a:rPr>
              <a:t>Techniques émergentes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7013448" y="50200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50 techniques récentes avec date STIX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274320" y="5678424"/>
            <a:ext cx="5760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74320" y="5678424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🕵️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932688" y="575157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</a:rPr>
              <a:t>Analyse APT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932688" y="613562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Page dédiée APT28, Lazarus Group, APT41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355080" y="6309360"/>
            <a:ext cx="576072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355080" y="630936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🔍 Filtres interactifs : Tactique  |  Plateforme  |  Groupe APT  |  Technique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274320" y="658368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MITRE ATT&amp;CK Data Engineering — Groupe 9 | UCAO 2025–2026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1704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A2F5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0972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Analyse des groupes APT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1097280"/>
            <a:ext cx="37033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097280"/>
            <a:ext cx="3703320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1115568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APT28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65760" y="181051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Fancy Bear / Sofacy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217627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5A"/>
                </a:solidFill>
              </a:rPr>
              <a:t>🇷🇺 Russie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2578608"/>
            <a:ext cx="3520440" cy="502920"/>
          </a:xfrm>
          <a:prstGeom prst="rect">
            <a:avLst/>
          </a:prstGeom>
          <a:solidFill>
            <a:srgbClr val="C0392B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257860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F5A"/>
                </a:solidFill>
              </a:rPr>
              <a:t>Espionnage politique &amp; militaire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3200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5A"/>
                </a:solidFill>
              </a:rPr>
              <a:t>Tactiques clés :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3566160"/>
            <a:ext cx="3520440" cy="475488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56616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• Phishing ciblé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65760" y="4133088"/>
            <a:ext cx="3520440" cy="475488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4133088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• Exploitation de vulnérabilités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65760" y="4700016"/>
            <a:ext cx="3520440" cy="475488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700016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• Mouvement latéral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5266944"/>
            <a:ext cx="3520440" cy="475488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5266944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• Exfiltration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233672" y="1097280"/>
            <a:ext cx="37033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233672" y="1097280"/>
            <a:ext cx="3703320" cy="6400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24" name="Text 21"/>
          <p:cNvSpPr/>
          <p:nvPr/>
        </p:nvSpPr>
        <p:spPr>
          <a:xfrm>
            <a:off x="4233672" y="1115568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Lazarus Group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325112" y="181051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Hidden Cobra / ZINC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325112" y="217627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5A"/>
                </a:solidFill>
              </a:rPr>
              <a:t>🇰🇵 Corée du Nord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325112" y="2578608"/>
            <a:ext cx="3520440" cy="502920"/>
          </a:xfrm>
          <a:prstGeom prst="rect">
            <a:avLst/>
          </a:prstGeom>
          <a:solidFill>
            <a:srgbClr val="1A2F5A">
              <a:alpha val="2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4325112" y="257860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F5A"/>
                </a:solidFill>
              </a:rPr>
              <a:t>Cybercriminalité &amp; espionnage financier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325112" y="3200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5A"/>
                </a:solidFill>
              </a:rPr>
              <a:t>Tactiques clés :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325112" y="3566160"/>
            <a:ext cx="3520440" cy="475488"/>
          </a:xfrm>
          <a:prstGeom prst="rect">
            <a:avLst/>
          </a:prstGeom>
          <a:solidFill>
            <a:srgbClr val="1A2F5A">
              <a:alpha val="15000"/>
            </a:srgbClr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416552" y="356616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• Ingénierie sociale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325112" y="4133088"/>
            <a:ext cx="3520440" cy="475488"/>
          </a:xfrm>
          <a:prstGeom prst="rect">
            <a:avLst/>
          </a:prstGeom>
          <a:solidFill>
            <a:srgbClr val="1A2F5A">
              <a:alpha val="15000"/>
            </a:srgbClr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416552" y="4133088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• Malware custom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325112" y="4700016"/>
            <a:ext cx="3520440" cy="475488"/>
          </a:xfrm>
          <a:prstGeom prst="rect">
            <a:avLst/>
          </a:prstGeom>
          <a:solidFill>
            <a:srgbClr val="1A2F5A">
              <a:alpha val="15000"/>
            </a:srgbClr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416552" y="4700016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• Persistance avancée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325112" y="5266944"/>
            <a:ext cx="3520440" cy="475488"/>
          </a:xfrm>
          <a:prstGeom prst="rect">
            <a:avLst/>
          </a:prstGeom>
          <a:solidFill>
            <a:srgbClr val="1A2F5A">
              <a:alpha val="15000"/>
            </a:srgbClr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416552" y="5266944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• Vols de cryptomonnaies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8193024" y="1097280"/>
            <a:ext cx="37033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193024" y="1097280"/>
            <a:ext cx="370332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" name="Text 37"/>
          <p:cNvSpPr/>
          <p:nvPr/>
        </p:nvSpPr>
        <p:spPr>
          <a:xfrm>
            <a:off x="8193024" y="1115568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APT41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8284464" y="181051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Double Dragon / Winnti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8284464" y="217627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5A"/>
                </a:solidFill>
              </a:rPr>
              <a:t>🇨🇳 Chine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8284464" y="2578608"/>
            <a:ext cx="3520440" cy="502920"/>
          </a:xfrm>
          <a:prstGeom prst="rect">
            <a:avLst/>
          </a:prstGeom>
          <a:solidFill>
            <a:srgbClr val="059669">
              <a:alpha val="20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8284464" y="257860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F5A"/>
                </a:solidFill>
              </a:rPr>
              <a:t>Espionnage + cybercriminalité combinés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8284464" y="3200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5A"/>
                </a:solidFill>
              </a:rPr>
              <a:t>Tactiques clés :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8284464" y="3566160"/>
            <a:ext cx="3520440" cy="475488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375904" y="356616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• Compromission de supply chain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8284464" y="4133088"/>
            <a:ext cx="3520440" cy="475488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375904" y="4133088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• Outils doubles usage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8284464" y="4700016"/>
            <a:ext cx="3520440" cy="475488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375904" y="4700016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• Persistance long terme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8284464" y="5266944"/>
            <a:ext cx="3520440" cy="475488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375904" y="5266944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• Ciblage sectoriel large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189 techniques couvertes au total par ces 3 groupes APT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274320" y="658368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MITRE ATT&amp;CK Data Engineering — Groupe 9 | UCAO 2025–2026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11704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A2F5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0972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Stockage AWS S3 &amp; Sécurité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1097280"/>
            <a:ext cx="5577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170432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5A"/>
                </a:solidFill>
              </a:rPr>
              <a:t>☁️ Organisation AWS S3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1627632"/>
            <a:ext cx="5394960" cy="2560320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-bucket-s3/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raw/          ← JSON brut MITRE ATT&amp;CK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processed/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parquet/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dim_tactics.parquet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dim_techniques.parquet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dim_groups.parquet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dim_platforms.parquet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fact_technique_utilisee.parquet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bridge_technique_platform.parquet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17920" y="1097280"/>
            <a:ext cx="5669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9360" y="117043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</a:rPr>
              <a:t>🔒 Sécurité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09360" y="1572768"/>
            <a:ext cx="54864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Credentials dans .Renviron — jamais dans les scripts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.Renviron exclu du Git via .gitignore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data/raw/ exclu (fichier JSON volumineux)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*.pem, *.key exclus du versionnement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Bucket S3 privé — aucun accès public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Région eu-north-1 (Stockholm)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74320" y="4480560"/>
            <a:ext cx="11612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553712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</a:rPr>
              <a:t>📦 Pourquoi Parquet ?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4901184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Format orienté colonnes : lecture sélective sans charger toutes les lignes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Compression efficace : taille réduite vs CSV (champs répétitifs)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Compatible arrow, DuckDB, Spark, Power BI — adapté aux pipelines analytiques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74320" y="658368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MITRE ATT&amp;CK Data Engineering — Groupe 9 | UCAO 2025–2026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704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2F5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"/>
            <a:ext cx="749808" cy="7498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09728"/>
            <a:ext cx="10515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Pourquoi le format Parquet ?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166360" y="1143000"/>
            <a:ext cx="1828800" cy="1828800"/>
          </a:xfrm>
          <a:prstGeom prst="rect">
            <a:avLst/>
          </a:prstGeom>
          <a:solidFill>
            <a:srgbClr val="F97316"/>
          </a:solidFill>
          <a:ln/>
          <a:effectLst>
            <a:outerShdw blurRad="1016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166360" y="11430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400" dirty="0">
                <a:solidFill>
                  <a:srgbClr val="FFFFFF"/>
                </a:solidFill>
              </a:rPr>
              <a:t>PAR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kern="0" spc="400" dirty="0">
                <a:solidFill>
                  <a:srgbClr val="FFFFFF"/>
                </a:solidFill>
              </a:rPr>
              <a:t>QUET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754880" y="30175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Apache Parquet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28600" y="1143000"/>
            <a:ext cx="292608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" y="1143000"/>
            <a:ext cx="2926080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338328" y="1197864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📐  Orienté colonnes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18013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Lecture sélective des colonnes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21854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sans charger toutes les lignes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25694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→ Idéal pour les analyses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" y="29535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   analytiques ciblées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28600" y="3657600"/>
            <a:ext cx="292608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28600" y="3657600"/>
            <a:ext cx="2926080" cy="5669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5"/>
          <p:cNvSpPr/>
          <p:nvPr/>
        </p:nvSpPr>
        <p:spPr>
          <a:xfrm>
            <a:off x="338328" y="3712464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🗜  Compression efficace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65760" y="43159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Taille réduite vs CSV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65760" y="47000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grâce aux valeurs répétitives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65760" y="50840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→ Économie de stockage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65760" y="54681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   sur AWS S3 Free Tier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732520" y="1143000"/>
            <a:ext cx="292608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732520" y="1143000"/>
            <a:ext cx="2926080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2"/>
          <p:cNvSpPr/>
          <p:nvPr/>
        </p:nvSpPr>
        <p:spPr>
          <a:xfrm>
            <a:off x="8842248" y="1197864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🔗  Compatibilité totale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869680" y="18013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arrow · DuckDB · Spark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869680" y="21854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Power BI · AWS Athena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869680" y="25694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→ S'intègre dans tout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869680" y="29535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   pipeline analytique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732520" y="3657600"/>
            <a:ext cx="292608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732520" y="3657600"/>
            <a:ext cx="2926080" cy="5669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29"/>
          <p:cNvSpPr/>
          <p:nvPr/>
        </p:nvSpPr>
        <p:spPr>
          <a:xfrm>
            <a:off x="8842248" y="3712464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☁  Natif cloud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8869680" y="43159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Format recommandé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869680" y="47000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pour AWS S3 + requêtes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869680" y="50840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→ Compatible avec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869680" y="54681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   tous les services AWS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154680" y="2057400"/>
            <a:ext cx="20116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dash"/>
          </a:ln>
        </p:spPr>
      </p:sp>
      <p:sp>
        <p:nvSpPr>
          <p:cNvPr id="38" name="Shape 35"/>
          <p:cNvSpPr/>
          <p:nvPr/>
        </p:nvSpPr>
        <p:spPr>
          <a:xfrm>
            <a:off x="3154680" y="4526280"/>
            <a:ext cx="82296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dash"/>
          </a:ln>
        </p:spPr>
      </p:sp>
      <p:sp>
        <p:nvSpPr>
          <p:cNvPr id="39" name="Shape 36"/>
          <p:cNvSpPr/>
          <p:nvPr/>
        </p:nvSpPr>
        <p:spPr>
          <a:xfrm>
            <a:off x="6995160" y="2057400"/>
            <a:ext cx="173736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40" name="Shape 37"/>
          <p:cNvSpPr/>
          <p:nvPr/>
        </p:nvSpPr>
        <p:spPr>
          <a:xfrm>
            <a:off x="7818120" y="4526280"/>
            <a:ext cx="9144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</p:sp>
      <p:sp>
        <p:nvSpPr>
          <p:cNvPr id="41" name="Shape 38"/>
          <p:cNvSpPr/>
          <p:nvPr/>
        </p:nvSpPr>
        <p:spPr>
          <a:xfrm>
            <a:off x="228600" y="6144768"/>
            <a:ext cx="11704320" cy="566928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42" name="Text 39"/>
          <p:cNvSpPr/>
          <p:nvPr/>
        </p:nvSpPr>
        <p:spPr>
          <a:xfrm>
            <a:off x="320040" y="6144768"/>
            <a:ext cx="11521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CSV  →  texte brut, lourd, lent à lire         vs         Parquet  →  binaire, compressé, lecture colonne par colonne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3474720" y="3127248"/>
            <a:ext cx="5212080" cy="10515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4" name="Text 41"/>
          <p:cNvSpPr/>
          <p:nvPr/>
        </p:nvSpPr>
        <p:spPr>
          <a:xfrm>
            <a:off x="3566160" y="316382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5A"/>
                </a:solidFill>
              </a:rPr>
              <a:t>✅ Notre choix pour ce projet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3566160" y="351129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arrow::write_parquet()  •  aws.s3  •  6 tables exportées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274320" y="662940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MITRE ATT&amp;CK Data Engineering — Groupe 9 | UCAO 2025–2026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A2F5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0972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GitHub &amp; Qualité du projet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1143000"/>
            <a:ext cx="5760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143000"/>
            <a:ext cx="594360" cy="1600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1143000"/>
            <a:ext cx="594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32688" y="12527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</a:rPr>
              <a:t>Dépôt GitHub public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32688" y="16459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github.com/nik-timothee/MITRE-ATTACK-DataEngineering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Contient scripts R, documentation, README et .gitignore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55080" y="1143000"/>
            <a:ext cx="5760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55080" y="1143000"/>
            <a:ext cx="594360" cy="1600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1143000"/>
            <a:ext cx="594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013448" y="12527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</a:rPr>
              <a:t>README complet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013448" y="16459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Instructions d'installation, architecture, pipeline, sécurité et lien vers le dashboard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2971800"/>
            <a:ext cx="5760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2971800"/>
            <a:ext cx="594360" cy="1600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5"/>
          <p:cNvSpPr/>
          <p:nvPr/>
        </p:nvSpPr>
        <p:spPr>
          <a:xfrm>
            <a:off x="274320" y="2971800"/>
            <a:ext cx="594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32688" y="30815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</a:rPr>
              <a:t>Data Dictionary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32688" y="34747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19 tables documentées : colonnes, types, rôles, sources STIX et cardinalités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355080" y="2971800"/>
            <a:ext cx="5760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55080" y="2971800"/>
            <a:ext cx="594360" cy="1600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0"/>
          <p:cNvSpPr/>
          <p:nvPr/>
        </p:nvSpPr>
        <p:spPr>
          <a:xfrm>
            <a:off x="6355080" y="2971800"/>
            <a:ext cx="594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7013448" y="30815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</a:rPr>
              <a:t>Architecture documentée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013448" y="34747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Schéma visuel du pipeline complet disponible dans docs/architecture/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74320" y="4800600"/>
            <a:ext cx="5760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74320" y="4800600"/>
            <a:ext cx="594360" cy="1600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5"/>
          <p:cNvSpPr/>
          <p:nvPr/>
        </p:nvSpPr>
        <p:spPr>
          <a:xfrm>
            <a:off x="274320" y="4800600"/>
            <a:ext cx="594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932688" y="49103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</a:rPr>
              <a:t>Scripts commentés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932688" y="53035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Chaque script R est commenté étape par étape avec explications des choix techniques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355080" y="4800600"/>
            <a:ext cx="5760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55080" y="4800600"/>
            <a:ext cx="594360" cy="16002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3" name="Text 30"/>
          <p:cNvSpPr/>
          <p:nvPr/>
        </p:nvSpPr>
        <p:spPr>
          <a:xfrm>
            <a:off x="6355080" y="4800600"/>
            <a:ext cx="594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7013448" y="49103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</a:rPr>
              <a:t>Bonnes pratiques Git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013448" y="53035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git status, diff, staging, commits clairs et push synchronisé avec origin/main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274320" y="658368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MITRE ATT&amp;CK Data Engineering — Groupe 9 | UCAO 2025–2026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704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A2F5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0972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Limites du projet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1097280"/>
            <a:ext cx="11612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097280"/>
            <a:ext cx="201168" cy="9601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1430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</a:rPr>
              <a:t>📅 Snapshot temporel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1554480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Les résultats dépendent de la version du référentiel MITRE ATT&amp;CK au moment du téléchargement. Le framework évolue régulièrement.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2176272"/>
            <a:ext cx="11612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" y="2176272"/>
            <a:ext cx="201168" cy="9601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2219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</a:rPr>
              <a:t>🔗 Relations STIX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263347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Les relations de type uses doivent être interprétées dans leur contexte — elles reflètent les associations documentées, pas nécessairement observées.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3255264"/>
            <a:ext cx="11612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4320" y="3255264"/>
            <a:ext cx="201168" cy="96012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30098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</a:rPr>
              <a:t>🖥️ Portabilité Power BI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3712464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Power BI Desktop est disponible uniquement sur Windows, limitant la portabilité du dashboard.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4334256"/>
            <a:ext cx="11612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4320" y="4334256"/>
            <a:ext cx="201168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37997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</a:rPr>
              <a:t>☁️ AWS Free Tier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8640" y="4791456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Le stockage S3 Free Tier est limité à 5 Go et 20 000 requêtes GET/mois.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74320" y="5413248"/>
            <a:ext cx="11612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4320" y="5413248"/>
            <a:ext cx="201168" cy="96012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54589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</a:rPr>
              <a:t>🦆 DuckDB non implémenté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48640" y="5870448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DuckDB a été identifié comme optionnel mais n'est pas intégré dans la version finale du projet.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74320" y="658368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MITRE ATT&amp;CK Data Engineering — Groupe 9 | UCAO 2025–2026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704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38" y="31761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A2F5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0972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Perspectives d'amélioration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1143000"/>
            <a:ext cx="576072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143000"/>
            <a:ext cx="594360" cy="13167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1143000"/>
            <a:ext cx="594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32688" y="1252728"/>
            <a:ext cx="5010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</a:rPr>
              <a:t>Automatisation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32688" y="1645920"/>
            <a:ext cx="5010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GitHub Actions ou scheduler pour mise à jour auto du dataset MITRE ATT&amp;CK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55080" y="1143000"/>
            <a:ext cx="576072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55080" y="1143000"/>
            <a:ext cx="594360" cy="131673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1143000"/>
            <a:ext cx="594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🦆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013448" y="1252728"/>
            <a:ext cx="5010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</a:rPr>
              <a:t>DuckDB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013448" y="1645920"/>
            <a:ext cx="5010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Requêtes SQL analytiques directement sur les fichiers Parquet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89560" y="2583180"/>
            <a:ext cx="5760720" cy="1289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2569464"/>
            <a:ext cx="594360" cy="128930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📈</a:t>
            </a:r>
            <a:endParaRPr lang="fr-FR" dirty="0"/>
          </a:p>
        </p:txBody>
      </p:sp>
      <p:sp>
        <p:nvSpPr>
          <p:cNvPr id="18" name="Text 15"/>
          <p:cNvSpPr/>
          <p:nvPr/>
        </p:nvSpPr>
        <p:spPr>
          <a:xfrm>
            <a:off x="274320" y="2953512"/>
            <a:ext cx="594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91540" y="2727864"/>
            <a:ext cx="5010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</a:rPr>
              <a:t>Analyse temporelle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01378" y="2796444"/>
            <a:ext cx="5010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Suivi des évolutions du référentiel ATT&amp;CK dans le temps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73478" y="2583180"/>
            <a:ext cx="5760720" cy="1289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45242" y="2583180"/>
            <a:ext cx="594360" cy="128930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🔗</a:t>
            </a:r>
            <a:endParaRPr lang="fr-FR" dirty="0"/>
          </a:p>
        </p:txBody>
      </p:sp>
      <p:sp>
        <p:nvSpPr>
          <p:cNvPr id="23" name="Text 20"/>
          <p:cNvSpPr/>
          <p:nvPr/>
        </p:nvSpPr>
        <p:spPr>
          <a:xfrm>
            <a:off x="6355080" y="2953512"/>
            <a:ext cx="594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7013448" y="2697480"/>
            <a:ext cx="5010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</a:rPr>
              <a:t>Enrichissement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986363" y="2814674"/>
            <a:ext cx="5010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Campagnes, mitigations et logiciels du bundle STIX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57537" y="3981314"/>
            <a:ext cx="5760720" cy="131430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51460" y="3954056"/>
            <a:ext cx="594360" cy="131430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228080" y="3730810"/>
            <a:ext cx="594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845820" y="3947257"/>
            <a:ext cx="5010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</a:rPr>
              <a:t>Connexion directe S3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882743" y="4177608"/>
            <a:ext cx="5010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Power BI connecté à AWS S3 pour rafraîchissement automatisé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73478" y="4000905"/>
            <a:ext cx="5760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78460" y="3977640"/>
            <a:ext cx="594360" cy="12893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Text 30"/>
          <p:cNvSpPr/>
          <p:nvPr/>
        </p:nvSpPr>
        <p:spPr>
          <a:xfrm>
            <a:off x="6331700" y="3838367"/>
            <a:ext cx="594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7059168" y="4122614"/>
            <a:ext cx="5010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</a:rPr>
              <a:t>Apache Airflow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986363" y="4250543"/>
            <a:ext cx="5010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Pipeline ETL/ELT reproductible et orchestré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274320" y="5512039"/>
            <a:ext cx="11612880" cy="1131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74128" y="5491608"/>
            <a:ext cx="594360" cy="1151566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📱</a:t>
            </a:r>
            <a:endParaRPr lang="fr-FR" dirty="0"/>
          </a:p>
        </p:txBody>
      </p:sp>
      <p:sp>
        <p:nvSpPr>
          <p:cNvPr id="38" name="Text 35"/>
          <p:cNvSpPr/>
          <p:nvPr/>
        </p:nvSpPr>
        <p:spPr>
          <a:xfrm>
            <a:off x="274320" y="6574536"/>
            <a:ext cx="594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9" name="Text 36"/>
          <p:cNvSpPr/>
          <p:nvPr/>
        </p:nvSpPr>
        <p:spPr>
          <a:xfrm>
            <a:off x="932688" y="5564108"/>
            <a:ext cx="10863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</a:rPr>
              <a:t>Mobile &amp; ICS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953522" y="5719521"/>
            <a:ext cx="10863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Extension aux matrices ATT&amp;CK Mobile et ICS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375406" y="576286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MITRE ATT&amp;CK Data Engineering — Groupe 9 | UCAO 2025–2026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1704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12161520" cy="246888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7432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31520" y="248716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Le projet transforme un référentiel de menace complexe en données structurées et exploitables.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2944368"/>
            <a:ext cx="10698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F6FF"/>
                </a:solidFill>
              </a:rPr>
              <a:t>Pipeline : ingestion  →  transformation  →  modélisation  →  stockage  →  analyse  →  visualisation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337560"/>
            <a:ext cx="10698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4A017"/>
                </a:solidFill>
              </a:rPr>
              <a:t>R  •  AWS S3  •  Parquet  •  Power BI  •  MITRE ATT&amp;CK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553712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Merci pour votre attention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57200" y="5193792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4A017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7200" y="566928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F6FF"/>
                </a:solidFill>
              </a:rPr>
              <a:t>Démo possible : pipeline R → données analytiques → dashboard Power BI → matrice ATT&amp;CK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1081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F6FF"/>
                </a:solidFill>
              </a:rPr>
              <a:t>YORIKOUME </a:t>
            </a:r>
            <a:r>
              <a:rPr lang="en-US" sz="1100" dirty="0" err="1">
                <a:solidFill>
                  <a:srgbClr val="EFF6FF"/>
                </a:solidFill>
              </a:rPr>
              <a:t>Nikabou</a:t>
            </a:r>
            <a:r>
              <a:rPr lang="en-US" sz="1100" dirty="0">
                <a:solidFill>
                  <a:srgbClr val="EFF6FF"/>
                </a:solidFill>
              </a:rPr>
              <a:t>  •  BABA Abdoul Halim  •  BADO Thierry |  Groupe 9  |  UCAO 2025–2026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2315</TotalTime>
  <Words>1869</Words>
  <Application>Microsoft Office PowerPoint</Application>
  <PresentationFormat>Grand écran</PresentationFormat>
  <Paragraphs>380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0" baseType="lpstr">
      <vt:lpstr>Arial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Timothée NIKABOU</cp:lastModifiedBy>
  <cp:revision>7</cp:revision>
  <dcterms:created xsi:type="dcterms:W3CDTF">2026-08-01T19:18:04Z</dcterms:created>
  <dcterms:modified xsi:type="dcterms:W3CDTF">2026-08-09T17:04:54Z</dcterms:modified>
</cp:coreProperties>
</file>